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71" r:id="rId13"/>
    <p:sldId id="267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" TargetMode="External"/><Relationship Id="rId2" Type="http://schemas.openxmlformats.org/officeDocument/2006/relationships/hyperlink" Target="http://localhost:7474/browser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7474/browser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8961120" cy="6858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800" b="1">
                <a:solidFill>
                  <a:srgbClr val="162D40"/>
                </a:solidFill>
                <a:latin typeface="Microsoft YaHei"/>
              </a:rPr>
              <a:t>面向消费决策的相机领域知识图谱设计与导购系统实现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0784"/>
            <a:ext cx="6949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0">
                <a:solidFill>
                  <a:srgbClr val="62707E"/>
                </a:solidFill>
                <a:latin typeface="Microsoft YaHei"/>
              </a:rPr>
              <a:t>知识图谱期末大作业 · Neo4j · Flask · 自然语言导购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480560"/>
            <a:ext cx="1691640" cy="658368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文献综述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32888" y="480974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4480560"/>
            <a:ext cx="1691640" cy="658368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图谱构建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53127" y="480974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63440" y="4480560"/>
            <a:ext cx="1691640" cy="658368"/>
          </a:xfrm>
          <a:prstGeom prst="roundRect">
            <a:avLst/>
          </a:prstGeom>
          <a:solidFill>
            <a:srgbClr val="4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Neo4j 查询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73368" y="480974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0" y="4480560"/>
            <a:ext cx="1691640" cy="658368"/>
          </a:xfrm>
          <a:prstGeom prst="roundRect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Microsoft YaHei"/>
              </a:rPr>
              <a:t>导购系统</a:t>
            </a:r>
            <a:endParaRPr sz="1200" b="1" dirty="0">
              <a:solidFill>
                <a:srgbClr val="FFFFFF"/>
              </a:solidFill>
              <a:latin typeface="Microsoft YaHei"/>
            </a:endParaRPr>
          </a:p>
        </p:txBody>
      </p:sp>
      <p:cxnSp>
        <p:nvCxnSpPr>
          <p:cNvPr id="11" name="Connector 10"/>
          <p:cNvCxnSpPr/>
          <p:nvPr/>
        </p:nvCxnSpPr>
        <p:spPr>
          <a:xfrm flipV="1">
            <a:off x="7269479" y="2404872"/>
            <a:ext cx="1463040" cy="22860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19" y="2404872"/>
            <a:ext cx="1463041" cy="274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09559" y="2404872"/>
            <a:ext cx="822960" cy="150875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19" y="2404872"/>
            <a:ext cx="640080" cy="155448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19" y="2404872"/>
            <a:ext cx="2103121" cy="141731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909559" y="2679192"/>
            <a:ext cx="2286001" cy="123443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72599" y="3822191"/>
            <a:ext cx="1463041" cy="137161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949440" y="2468880"/>
            <a:ext cx="685800" cy="685800"/>
          </a:xfrm>
          <a:prstGeom prst="ellipse">
            <a:avLst/>
          </a:prstGeom>
          <a:solidFill>
            <a:srgbClr val="2374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6974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品牌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0" y="2240280"/>
            <a:ext cx="685800" cy="685800"/>
          </a:xfrm>
          <a:prstGeom prst="ellipse">
            <a:avLst/>
          </a:prstGeom>
          <a:solidFill>
            <a:srgbClr val="1D9E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型号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0" y="2514600"/>
            <a:ext cx="685800" cy="685800"/>
          </a:xfrm>
          <a:prstGeom prst="ellipse">
            <a:avLst/>
          </a:prstGeom>
          <a:solidFill>
            <a:srgbClr val="4299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27432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镜头</a:t>
            </a:r>
          </a:p>
        </p:txBody>
      </p:sp>
      <p:sp>
        <p:nvSpPr>
          <p:cNvPr id="24" name="Oval 23"/>
          <p:cNvSpPr/>
          <p:nvPr/>
        </p:nvSpPr>
        <p:spPr>
          <a:xfrm>
            <a:off x="7589519" y="3749039"/>
            <a:ext cx="685800" cy="685800"/>
          </a:xfrm>
          <a:prstGeom prst="ellipse">
            <a:avLst/>
          </a:prstGeom>
          <a:solidFill>
            <a:srgbClr val="E099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19" y="3977639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26" name="Oval 25"/>
          <p:cNvSpPr/>
          <p:nvPr/>
        </p:nvSpPr>
        <p:spPr>
          <a:xfrm>
            <a:off x="9052559" y="3794760"/>
            <a:ext cx="685800" cy="685800"/>
          </a:xfrm>
          <a:prstGeom prst="ellipse">
            <a:avLst/>
          </a:prstGeom>
          <a:solidFill>
            <a:srgbClr val="D65A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59" y="402336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28" name="Oval 27"/>
          <p:cNvSpPr/>
          <p:nvPr/>
        </p:nvSpPr>
        <p:spPr>
          <a:xfrm>
            <a:off x="10515600" y="3657600"/>
            <a:ext cx="685800" cy="685800"/>
          </a:xfrm>
          <a:prstGeom prst="ellipse">
            <a:avLst/>
          </a:prstGeom>
          <a:solidFill>
            <a:srgbClr val="715B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0" y="38862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064672"/>
            <a:ext cx="5021659" cy="81253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0" dirty="0" err="1">
                <a:solidFill>
                  <a:srgbClr val="62707E"/>
                </a:solidFill>
                <a:latin typeface="Microsoft YaHei"/>
              </a:rPr>
              <a:t>汇报</a:t>
            </a:r>
            <a:r>
              <a:rPr lang="zh-CN" altLang="en-US" sz="2400" dirty="0">
                <a:solidFill>
                  <a:srgbClr val="62707E"/>
                </a:solidFill>
                <a:latin typeface="Microsoft YaHei"/>
              </a:rPr>
              <a:t>人：董启炎</a:t>
            </a:r>
            <a:endParaRPr lang="en-US" altLang="zh-CN" sz="2400" dirty="0">
              <a:solidFill>
                <a:srgbClr val="62707E"/>
              </a:solidFill>
              <a:latin typeface="Microsoft YaHei"/>
            </a:endParaRPr>
          </a:p>
          <a:p>
            <a:pPr algn="l"/>
            <a:r>
              <a:rPr lang="zh-CN" altLang="en-US" sz="2400" b="0" dirty="0">
                <a:solidFill>
                  <a:srgbClr val="62707E"/>
                </a:solidFill>
                <a:latin typeface="Microsoft YaHei"/>
              </a:rPr>
              <a:t>学号：</a:t>
            </a:r>
            <a:r>
              <a:rPr lang="en-US" altLang="zh-CN" sz="2400" b="0" dirty="0">
                <a:solidFill>
                  <a:srgbClr val="62707E"/>
                </a:solidFill>
                <a:latin typeface="Microsoft YaHei"/>
              </a:rPr>
              <a:t>302023512064</a:t>
            </a:r>
            <a:endParaRPr sz="2400" b="0" dirty="0">
              <a:solidFill>
                <a:srgbClr val="62707E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研究背景与问题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相机选购是一个典型的多实体、多关系、多约束决策场景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799" y="1325880"/>
            <a:ext cx="3413761" cy="1335024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490472"/>
            <a:ext cx="384048" cy="384048"/>
          </a:xfrm>
          <a:prstGeom prst="ellipse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81328"/>
            <a:ext cx="25603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信息分散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29384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价格、参数、评测分布在电商、官网和媒体平台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用户需要跨来源比较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71672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490472"/>
            <a:ext cx="384048" cy="384048"/>
          </a:xfrm>
          <a:prstGeom prst="ellipse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481328"/>
            <a:ext cx="25603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关系复杂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29384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相机与品牌、画幅、镜头、用途、参数相互关联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表格不容易表达兼容路径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39" y="1325880"/>
            <a:ext cx="3471671" cy="1344168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1490472"/>
            <a:ext cx="384048" cy="384048"/>
          </a:xfrm>
          <a:prstGeom prst="ellipse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1481328"/>
            <a:ext cx="256031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推荐需要解释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929384"/>
            <a:ext cx="29809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用户关心为什么适合自己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需要结合预算、用途和已有镜头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0632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700" b="1">
                <a:solidFill>
                  <a:srgbClr val="162D40"/>
                </a:solidFill>
                <a:latin typeface="Microsoft YaHei"/>
              </a:rPr>
              <a:t>核心问题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93008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2B343E"/>
                </a:solidFill>
                <a:latin typeface="Microsoft YaHei"/>
              </a:rPr>
              <a:t>如何把碎片化的相机信息组织成结构化知识</a:t>
            </a:r>
            <a:r>
              <a:rPr sz="1600" dirty="0">
                <a:solidFill>
                  <a:srgbClr val="2B343E"/>
                </a:solidFill>
                <a:latin typeface="Microsoft YaHei"/>
              </a:rPr>
              <a:t>？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2B343E"/>
                </a:solidFill>
                <a:latin typeface="Microsoft YaHei"/>
              </a:rPr>
              <a:t>如何支持按预算、用途、卡口、镜头生态进行查询</a:t>
            </a:r>
            <a:r>
              <a:rPr sz="1600" dirty="0">
                <a:solidFill>
                  <a:srgbClr val="2B343E"/>
                </a:solidFill>
                <a:latin typeface="Microsoft YaHei"/>
              </a:rPr>
              <a:t>？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2B343E"/>
                </a:solidFill>
                <a:latin typeface="Microsoft YaHei"/>
              </a:rPr>
              <a:t>如何让推荐结果具有可解释性</a:t>
            </a:r>
            <a:r>
              <a:rPr sz="1600" dirty="0">
                <a:solidFill>
                  <a:srgbClr val="2B343E"/>
                </a:solidFill>
                <a:latin typeface="Microsoft YaHei"/>
              </a:rPr>
              <a:t>？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95159" y="3547872"/>
            <a:ext cx="1463041" cy="22860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200" y="3547872"/>
            <a:ext cx="1463040" cy="27431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635240" y="3547872"/>
            <a:ext cx="822960" cy="150875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58200" y="3547872"/>
            <a:ext cx="640080" cy="155448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8200" y="3547872"/>
            <a:ext cx="2103119" cy="1417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635240" y="3822191"/>
            <a:ext cx="2286000" cy="123444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98280" y="4965192"/>
            <a:ext cx="1463039" cy="13716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675120" y="3611880"/>
            <a:ext cx="685800" cy="685800"/>
          </a:xfrm>
          <a:prstGeom prst="ellipse">
            <a:avLst/>
          </a:prstGeom>
          <a:solidFill>
            <a:srgbClr val="2374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品牌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0" y="3383280"/>
            <a:ext cx="685800" cy="685800"/>
          </a:xfrm>
          <a:prstGeom prst="ellipse">
            <a:avLst/>
          </a:prstGeom>
          <a:solidFill>
            <a:srgbClr val="1D9E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36118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型号</a:t>
            </a:r>
          </a:p>
        </p:txBody>
      </p:sp>
      <p:sp>
        <p:nvSpPr>
          <p:cNvPr id="35" name="Oval 34"/>
          <p:cNvSpPr/>
          <p:nvPr/>
        </p:nvSpPr>
        <p:spPr>
          <a:xfrm>
            <a:off x="9601200" y="3657600"/>
            <a:ext cx="685800" cy="685800"/>
          </a:xfrm>
          <a:prstGeom prst="ellipse">
            <a:avLst/>
          </a:prstGeom>
          <a:solidFill>
            <a:srgbClr val="4299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38862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镜头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0" y="4892040"/>
            <a:ext cx="685800" cy="685800"/>
          </a:xfrm>
          <a:prstGeom prst="ellipse">
            <a:avLst/>
          </a:prstGeom>
          <a:solidFill>
            <a:srgbClr val="E099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0" y="512064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39" name="Oval 38"/>
          <p:cNvSpPr/>
          <p:nvPr/>
        </p:nvSpPr>
        <p:spPr>
          <a:xfrm>
            <a:off x="8778240" y="4937760"/>
            <a:ext cx="685800" cy="685800"/>
          </a:xfrm>
          <a:prstGeom prst="ellipse">
            <a:avLst/>
          </a:prstGeom>
          <a:solidFill>
            <a:srgbClr val="D65A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516636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41" name="Oval 40"/>
          <p:cNvSpPr/>
          <p:nvPr/>
        </p:nvSpPr>
        <p:spPr>
          <a:xfrm>
            <a:off x="10241280" y="4800600"/>
            <a:ext cx="685800" cy="685800"/>
          </a:xfrm>
          <a:prstGeom prst="ellipse">
            <a:avLst/>
          </a:prstGeom>
          <a:solidFill>
            <a:srgbClr val="715B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80" y="50292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评测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文献综述介绍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43143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endParaRPr sz="1100" b="0" dirty="0">
              <a:solidFill>
                <a:srgbClr val="62707E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490472"/>
            <a:ext cx="384048" cy="384048"/>
          </a:xfrm>
          <a:prstGeom prst="ellipse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81328"/>
            <a:ext cx="26517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知识图谱构建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29384"/>
            <a:ext cx="3072384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实体、关系、属性、本体建模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图数据库存储与图谱质量控制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支撑本项目的</a:t>
            </a:r>
            <a:r>
              <a:rPr sz="1200" dirty="0">
                <a:solidFill>
                  <a:srgbClr val="2B343E"/>
                </a:solidFill>
                <a:latin typeface="Microsoft YaHei"/>
              </a:rPr>
              <a:t> Schema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设计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490472"/>
            <a:ext cx="384048" cy="384048"/>
          </a:xfrm>
          <a:prstGeom prst="ellipse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1481328"/>
            <a:ext cx="26517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推荐系统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929384"/>
            <a:ext cx="3072384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用户画像、场景匹配、约束过滤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可解释推荐与冷启动问题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支撑预算、用途、偏好建模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79" y="13258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1" y="1490472"/>
            <a:ext cx="384048" cy="384048"/>
          </a:xfrm>
          <a:prstGeom prst="ellipse">
            <a:avLst/>
          </a:prstGeom>
          <a:solidFill>
            <a:srgbClr val="71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591056"/>
            <a:ext cx="384048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481328"/>
            <a:ext cx="265175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智能问答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929384"/>
            <a:ext cx="3072384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自然语言理解与意图识别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问题到结构化查询的映射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支撑自然语言转 Cypher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332720" cy="420624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700" b="1">
                <a:solidFill>
                  <a:srgbClr val="162D40"/>
                </a:solidFill>
                <a:latin typeface="Microsoft YaHei"/>
              </a:rPr>
              <a:t>综述结论：知识图谱适合相机领域的关系表达，可进一步服务于可解释导购与问答应用。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文献综述对项目设计的启发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把文献方法落到相机选购场景中的实体、关系和应用能力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691640" cy="658368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文献方法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174650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417320"/>
            <a:ext cx="1691640" cy="658368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领域建模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98848" y="174650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417320"/>
            <a:ext cx="1691640" cy="658368"/>
          </a:xfrm>
          <a:prstGeom prst="roundRect">
            <a:avLst/>
          </a:prstGeom>
          <a:solidFill>
            <a:srgbClr val="4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图数据库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19088" y="174650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1417320"/>
            <a:ext cx="1691640" cy="658368"/>
          </a:xfrm>
          <a:prstGeom prst="roundRect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导购应用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468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624328"/>
            <a:ext cx="306323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图谱构建启发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072384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相机、镜头、品牌作为实体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生产、分类、兼容、适用作为关系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89120" y="2468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2624328"/>
            <a:ext cx="30632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推荐系统启发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72384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引入预算、用途、经验、便携需求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把推荐理由显式建成节点/属性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468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2624328"/>
            <a:ext cx="306323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问答系统启发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072384"/>
            <a:ext cx="3026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自然语言问题解析为约束条件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生成 Cypher 查询 Neo4j 图谱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362D10-D43E-4A2F-9D1C-B9CEA40879F7}"/>
              </a:ext>
            </a:extLst>
          </p:cNvPr>
          <p:cNvSpPr txBox="1"/>
          <p:nvPr/>
        </p:nvSpPr>
        <p:spPr>
          <a:xfrm>
            <a:off x="7955279" y="4718410"/>
            <a:ext cx="3429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Wang et al. (2019)</a:t>
            </a:r>
          </a:p>
          <a:p>
            <a:r>
              <a:rPr lang="en-US" altLang="zh-CN" dirty="0"/>
              <a:t>Explainable Reasoning over Knowledge Graphs for Recommendation</a:t>
            </a:r>
          </a:p>
          <a:p>
            <a:r>
              <a:rPr lang="en-US" altLang="zh-CN" dirty="0"/>
              <a:t>→ </a:t>
            </a:r>
            <a:r>
              <a:rPr lang="zh-CN" altLang="en-US" dirty="0"/>
              <a:t>支撑本项目“可解释导购推荐”的设计思路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8F48209-4101-438F-8AD8-4A6269928E79}"/>
              </a:ext>
            </a:extLst>
          </p:cNvPr>
          <p:cNvSpPr txBox="1"/>
          <p:nvPr/>
        </p:nvSpPr>
        <p:spPr>
          <a:xfrm>
            <a:off x="-56749" y="4357205"/>
            <a:ext cx="1527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代表性文献：</a:t>
            </a:r>
          </a:p>
          <a:p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F4C18F-9145-4BE0-A2AB-508E8550C44D}"/>
              </a:ext>
            </a:extLst>
          </p:cNvPr>
          <p:cNvSpPr txBox="1"/>
          <p:nvPr/>
        </p:nvSpPr>
        <p:spPr>
          <a:xfrm>
            <a:off x="1074420" y="4730046"/>
            <a:ext cx="30743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Ji et al. (2021)</a:t>
            </a:r>
          </a:p>
          <a:p>
            <a:r>
              <a:rPr lang="en-US" altLang="zh-CN" dirty="0"/>
              <a:t>A Survey on Knowledge Graphs: Representation, Acquisition, and Applications</a:t>
            </a:r>
          </a:p>
          <a:p>
            <a:r>
              <a:rPr lang="en-US" altLang="zh-CN" dirty="0"/>
              <a:t>→ </a:t>
            </a:r>
            <a:r>
              <a:rPr lang="zh-CN" altLang="en-US" dirty="0"/>
              <a:t>指导知识图谱的实体、关系、属性和应用框架设计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129674-D305-460E-90BE-5ECEA87CF495}"/>
              </a:ext>
            </a:extLst>
          </p:cNvPr>
          <p:cNvSpPr txBox="1"/>
          <p:nvPr/>
        </p:nvSpPr>
        <p:spPr>
          <a:xfrm>
            <a:off x="4480560" y="4725295"/>
            <a:ext cx="3337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Wang et al. (2017)</a:t>
            </a:r>
          </a:p>
          <a:p>
            <a:r>
              <a:rPr lang="en-US" altLang="zh-CN" dirty="0"/>
              <a:t>Knowledge Graph Embedding: A Survey of Approaches and Applications</a:t>
            </a:r>
          </a:p>
          <a:p>
            <a:r>
              <a:rPr lang="en-US" altLang="zh-CN" dirty="0"/>
              <a:t>→ </a:t>
            </a:r>
            <a:r>
              <a:rPr lang="zh-CN" altLang="en-US" dirty="0"/>
              <a:t>启发后续基于向量表示的相机</a:t>
            </a:r>
            <a:r>
              <a:rPr lang="en-US" altLang="zh-CN" dirty="0"/>
              <a:t>/</a:t>
            </a:r>
            <a:r>
              <a:rPr lang="zh-CN" altLang="en-US" dirty="0"/>
              <a:t>镜头相似度推荐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数据层、图谱层、应用层构成完整闭环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691640" cy="658368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数据来源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325880"/>
            <a:ext cx="1691640" cy="658368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预处理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6168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325880"/>
            <a:ext cx="1691640" cy="658368"/>
          </a:xfrm>
          <a:prstGeom prst="roundRect">
            <a:avLst/>
          </a:prstGeom>
          <a:solidFill>
            <a:srgbClr val="4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Schema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81927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1325880"/>
            <a:ext cx="1691640" cy="658368"/>
          </a:xfrm>
          <a:prstGeom prst="roundRect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Neo4j 导入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0216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1325880"/>
            <a:ext cx="1691640" cy="658368"/>
          </a:xfrm>
          <a:prstGeom prst="roundRect">
            <a:avLst/>
          </a:prstGeom>
          <a:solidFill>
            <a:srgbClr val="71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Cypher 查询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2240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1325880"/>
            <a:ext cx="1691640" cy="658368"/>
          </a:xfrm>
          <a:prstGeom prst="roundRect">
            <a:avLst/>
          </a:prstGeom>
          <a:solidFill>
            <a:srgbClr val="D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导购系统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4231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578608"/>
            <a:ext cx="27889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026664"/>
            <a:ext cx="275234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品牌/型号/镜头/参数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价格、评测、用户画像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归一化 CSV 节点表与边表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4231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2578608"/>
            <a:ext cx="27889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图谱层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026664"/>
            <a:ext cx="275234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Neo4j 存储实体与关系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支持路径查询与关系解释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展示整体知识网络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4231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76488" y="2578608"/>
            <a:ext cx="278891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3026664"/>
            <a:ext cx="275234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自然语言解析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自动生成 Cypher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输出推荐结果与理由</a:t>
            </a:r>
          </a:p>
        </p:txBody>
      </p:sp>
      <p:sp>
        <p:nvSpPr>
          <p:cNvPr id="27" name="Rounded Rectangle 26">
            <a:hlinkClick r:id="rId2"/>
          </p:cNvPr>
          <p:cNvSpPr/>
          <p:nvPr/>
        </p:nvSpPr>
        <p:spPr>
          <a:xfrm>
            <a:off x="2834640" y="5074920"/>
            <a:ext cx="2057400" cy="502920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Neo4j 图谱库</a:t>
            </a:r>
          </a:p>
        </p:txBody>
      </p:sp>
      <p:sp>
        <p:nvSpPr>
          <p:cNvPr id="28" name="Rounded Rectangle 27">
            <a:hlinkClick r:id="rId3"/>
          </p:cNvPr>
          <p:cNvSpPr/>
          <p:nvPr/>
        </p:nvSpPr>
        <p:spPr>
          <a:xfrm>
            <a:off x="7086600" y="5074920"/>
            <a:ext cx="2331720" cy="502920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Flask 导购系统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围绕市场主流相机、镜头和购买决策信息进行扩展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89888"/>
            <a:ext cx="24231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品牌与型号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23865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10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个品牌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每个品牌至少</a:t>
            </a:r>
            <a:r>
              <a:rPr sz="1200" dirty="0">
                <a:solidFill>
                  <a:srgbClr val="2B343E"/>
                </a:solidFill>
                <a:latin typeface="Microsoft YaHei"/>
              </a:rPr>
              <a:t> 15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个热门型号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1188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389888"/>
            <a:ext cx="24231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价格信息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837944"/>
            <a:ext cx="238658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京东、天猫、品牌官网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首发价、当前价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37960" y="1234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9128" y="1389888"/>
            <a:ext cx="21488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参数信息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837944"/>
            <a:ext cx="21122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像素、防抖、对焦点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续航、卡槽、屏幕、码率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34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90888" y="1389888"/>
            <a:ext cx="196595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评测信息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1837944"/>
            <a:ext cx="19293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媒体评分、用户评分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优点、缺点、发布日期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51560" y="3246120"/>
            <a:ext cx="4526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" y="3401568"/>
            <a:ext cx="41605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镜头生态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849624"/>
            <a:ext cx="41239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卡口、焦段、光圈、重量、防抖、价格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补充市场上热销 30 款镜头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46120"/>
            <a:ext cx="4526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401568"/>
            <a:ext cx="416052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用户画像与用途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849624"/>
            <a:ext cx="4123944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预算、已有镜头、拍摄经验、主要题材、便携要求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风光、人像、视频、直播、街拍、体育、生态、商业棚拍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数据预处理过程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把分散商品信息转换成统一的节点和关系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691640" cy="658368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采集整理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325880"/>
            <a:ext cx="1691640" cy="658368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字段清洗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53127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1325880"/>
            <a:ext cx="1691640" cy="658368"/>
          </a:xfrm>
          <a:prstGeom prst="roundRect">
            <a:avLst/>
          </a:prstGeom>
          <a:solidFill>
            <a:srgbClr val="4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实体归一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7336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1325880"/>
            <a:ext cx="1691640" cy="658368"/>
          </a:xfrm>
          <a:prstGeom prst="roundRect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关系补全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9360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1325880"/>
            <a:ext cx="1691640" cy="658368"/>
          </a:xfrm>
          <a:prstGeom prst="roundRect">
            <a:avLst/>
          </a:prstGeom>
          <a:solidFill>
            <a:srgbClr val="715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CSV 输出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23160"/>
            <a:ext cx="3337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2578608"/>
            <a:ext cx="297179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清洗与统一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026664"/>
            <a:ext cx="293522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统一品牌名称、型号名称、卡口名称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补齐价格、重量、用途、参数字段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处理重复和缺失信息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423160"/>
            <a:ext cx="3337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2578608"/>
            <a:ext cx="29718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节点归一化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3026664"/>
            <a:ext cx="293522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输出 normalized_nodes.csv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每一行对应一个实体节点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 Label 区分节点类型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423160"/>
            <a:ext cx="3337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2578608"/>
            <a:ext cx="297179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关系归一化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26664"/>
            <a:ext cx="293522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输出 normalized_edges.csv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每一行对应一条关系边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 type 区分关系语义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9966960" cy="34747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700" b="1">
                <a:solidFill>
                  <a:srgbClr val="162D40"/>
                </a:solidFill>
                <a:latin typeface="Microsoft YaHei"/>
              </a:rPr>
              <a:t>预处理目标：让 Neo4j 导入后形成稳定、可查询、可展示的领域知识网络。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Schema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 dirty="0" err="1">
                <a:solidFill>
                  <a:srgbClr val="62707E"/>
                </a:solidFill>
                <a:latin typeface="Microsoft YaHei"/>
              </a:rPr>
              <a:t>围绕“相机是什么、适合谁、配什么、为什么推荐”建模</a:t>
            </a:r>
            <a:endParaRPr sz="1100" b="0" dirty="0">
              <a:solidFill>
                <a:srgbClr val="62707E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362" y="1231141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3242" y="1399548"/>
            <a:ext cx="47091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主要节点类型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4672583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Brand：品牌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CameraModel：相机型号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CameraCategory：相机类别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Lens：镜头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UseCase：用途场景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PriceRecord：价格记录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ReviewRecord：评测记录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UserProfile：用户画像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23845" y="123444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2163" y="1393469"/>
            <a:ext cx="470916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 dirty="0" err="1">
                <a:solidFill>
                  <a:srgbClr val="162D40"/>
                </a:solidFill>
                <a:latin typeface="Microsoft YaHei"/>
              </a:rPr>
              <a:t>主要关系类型</a:t>
            </a:r>
            <a:endParaRPr sz="1500" b="1" dirty="0">
              <a:solidFill>
                <a:srgbClr val="162D40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48990" y="1846522"/>
            <a:ext cx="4672583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PRODUCED_BY：生产关系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BELONGS_TO_CATEGORY：类别归属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COMPATIBLE_WITH：镜头兼容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SUITABLE_FOR：相机适用场景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LENS_SUITABLE_FOR：镜头适用场景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PRICE_OF /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REVIEW_OF：价格与评测关联</a:t>
            </a:r>
            <a:endParaRPr sz="1200" dirty="0">
              <a:solidFill>
                <a:srgbClr val="2B343E"/>
              </a:solidFill>
              <a:latin typeface="Microsoft YaHei"/>
            </a:endParaRPr>
          </a:p>
          <a:p>
            <a:pPr>
              <a:spcAft>
                <a:spcPts val="600"/>
              </a:spcAft>
            </a:pPr>
            <a:r>
              <a:rPr sz="1200" dirty="0">
                <a:solidFill>
                  <a:srgbClr val="2B343E"/>
                </a:solidFill>
                <a:latin typeface="Microsoft YaHei"/>
              </a:rPr>
              <a:t>• </a:t>
            </a:r>
            <a:r>
              <a:rPr sz="1200" dirty="0" err="1">
                <a:solidFill>
                  <a:srgbClr val="2B343E"/>
                </a:solidFill>
                <a:latin typeface="Microsoft YaHei"/>
              </a:rPr>
              <a:t>HAS_REASON：推荐理由</a:t>
            </a:r>
            <a:endParaRPr sz="1200" dirty="0">
              <a:solidFill>
                <a:srgbClr val="2B343E"/>
              </a:solidFill>
              <a:latin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11B4FA5-2B50-4303-8751-E643BD02A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18" y="1196685"/>
            <a:ext cx="5735818" cy="44829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数据库图谱整体展示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点击按钮进入 Neo4j Browser，现场展示图谱结构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09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200" b="1">
                <a:solidFill>
                  <a:srgbClr val="2374AB"/>
                </a:solidFill>
                <a:latin typeface="Microsoft YaHei"/>
              </a:rPr>
              <a:t>307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73736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000" b="0">
                <a:solidFill>
                  <a:srgbClr val="62707E"/>
                </a:solidFill>
                <a:latin typeface="Microsoft YaHei"/>
              </a:rPr>
              <a:t>节点总数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2344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344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200" b="1">
                <a:solidFill>
                  <a:srgbClr val="1D9E93"/>
                </a:solidFill>
                <a:latin typeface="Microsoft YaHei"/>
              </a:rPr>
              <a:t>1162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737360"/>
            <a:ext cx="173736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000" b="0">
                <a:solidFill>
                  <a:srgbClr val="62707E"/>
                </a:solidFill>
                <a:latin typeface="Microsoft YaHei"/>
              </a:rPr>
              <a:t>关系总数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2344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344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200" b="1">
                <a:solidFill>
                  <a:srgbClr val="42996F"/>
                </a:solidFill>
                <a:latin typeface="Microsoft YaHei"/>
              </a:rP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37360"/>
            <a:ext cx="173736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000" b="0">
                <a:solidFill>
                  <a:srgbClr val="62707E"/>
                </a:solidFill>
                <a:latin typeface="Microsoft YaHei"/>
              </a:rPr>
              <a:t>相机型号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2344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1344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200" b="1">
                <a:solidFill>
                  <a:srgbClr val="E09936"/>
                </a:solidFill>
                <a:latin typeface="Microsoft YaHei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737360"/>
            <a:ext cx="173736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000" b="0">
                <a:solidFill>
                  <a:srgbClr val="62707E"/>
                </a:solidFill>
                <a:latin typeface="Microsoft YaHei"/>
              </a:rPr>
              <a:t>镜头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2344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1344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2200" b="1">
                <a:solidFill>
                  <a:srgbClr val="715BB4"/>
                </a:solidFill>
                <a:latin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737360"/>
            <a:ext cx="173736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000" b="0">
                <a:solidFill>
                  <a:srgbClr val="62707E"/>
                </a:solidFill>
                <a:latin typeface="Microsoft YaHei"/>
              </a:rPr>
              <a:t>品牌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645919" y="3319272"/>
            <a:ext cx="1463041" cy="22860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08960" y="3319272"/>
            <a:ext cx="1463040" cy="274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286000" y="3319272"/>
            <a:ext cx="822960" cy="150875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08960" y="3319272"/>
            <a:ext cx="640079" cy="155448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08960" y="3319272"/>
            <a:ext cx="2103120" cy="1417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86000" y="3593592"/>
            <a:ext cx="2286000" cy="1234439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49039" y="4736592"/>
            <a:ext cx="1463041" cy="13716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325880" y="3383280"/>
            <a:ext cx="685800" cy="685800"/>
          </a:xfrm>
          <a:prstGeom prst="ellipse">
            <a:avLst/>
          </a:prstGeom>
          <a:solidFill>
            <a:srgbClr val="2374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36118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品牌</a:t>
            </a:r>
          </a:p>
        </p:txBody>
      </p:sp>
      <p:sp>
        <p:nvSpPr>
          <p:cNvPr id="31" name="Oval 30"/>
          <p:cNvSpPr/>
          <p:nvPr/>
        </p:nvSpPr>
        <p:spPr>
          <a:xfrm>
            <a:off x="2788920" y="3154680"/>
            <a:ext cx="685800" cy="685800"/>
          </a:xfrm>
          <a:prstGeom prst="ellipse">
            <a:avLst/>
          </a:prstGeom>
          <a:solidFill>
            <a:srgbClr val="1D9E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33832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型号</a:t>
            </a:r>
          </a:p>
        </p:txBody>
      </p:sp>
      <p:sp>
        <p:nvSpPr>
          <p:cNvPr id="33" name="Oval 32"/>
          <p:cNvSpPr/>
          <p:nvPr/>
        </p:nvSpPr>
        <p:spPr>
          <a:xfrm>
            <a:off x="4251960" y="3429000"/>
            <a:ext cx="685800" cy="685800"/>
          </a:xfrm>
          <a:prstGeom prst="ellipse">
            <a:avLst/>
          </a:prstGeom>
          <a:solidFill>
            <a:srgbClr val="4299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6576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镜头</a:t>
            </a:r>
          </a:p>
        </p:txBody>
      </p:sp>
      <p:sp>
        <p:nvSpPr>
          <p:cNvPr id="35" name="Oval 34"/>
          <p:cNvSpPr/>
          <p:nvPr/>
        </p:nvSpPr>
        <p:spPr>
          <a:xfrm>
            <a:off x="1965960" y="4663440"/>
            <a:ext cx="685800" cy="685800"/>
          </a:xfrm>
          <a:prstGeom prst="ellipse">
            <a:avLst/>
          </a:prstGeom>
          <a:solidFill>
            <a:srgbClr val="E099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65960" y="489204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37" name="Oval 36"/>
          <p:cNvSpPr/>
          <p:nvPr/>
        </p:nvSpPr>
        <p:spPr>
          <a:xfrm>
            <a:off x="3429000" y="4709160"/>
            <a:ext cx="685800" cy="685800"/>
          </a:xfrm>
          <a:prstGeom prst="ellipse">
            <a:avLst/>
          </a:prstGeom>
          <a:solidFill>
            <a:srgbClr val="D65A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493776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572000"/>
            <a:ext cx="685800" cy="685800"/>
          </a:xfrm>
          <a:prstGeom prst="ellipse">
            <a:avLst/>
          </a:prstGeom>
          <a:solidFill>
            <a:srgbClr val="715B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92040" y="48006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评测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514600"/>
            <a:ext cx="5303520" cy="1280160"/>
          </a:xfrm>
          <a:prstGeom prst="roundRect">
            <a:avLst/>
          </a:prstGeom>
          <a:solidFill>
            <a:srgbClr val="19232E"/>
          </a:solidFill>
          <a:ln>
            <a:solidFill>
              <a:srgbClr val="44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3912" y="2660904"/>
            <a:ext cx="4974336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DAE8F0"/>
                </a:solidFill>
                <a:latin typeface="Consolas"/>
              </a:rPr>
              <a:t>MATCH p=()-[]-&gt;()</a:t>
            </a:r>
            <a:br>
              <a:rPr dirty="0"/>
            </a:br>
            <a:r>
              <a:rPr sz="1600" dirty="0">
                <a:solidFill>
                  <a:srgbClr val="DAE8F0"/>
                </a:solidFill>
                <a:latin typeface="Consolas"/>
              </a:rPr>
              <a:t>RETURN p</a:t>
            </a:r>
            <a:br>
              <a:rPr dirty="0"/>
            </a:br>
            <a:r>
              <a:rPr sz="1600" dirty="0">
                <a:solidFill>
                  <a:srgbClr val="DAE8F0"/>
                </a:solidFill>
                <a:latin typeface="Consolas"/>
              </a:rPr>
              <a:t>LIMIT 120;</a:t>
            </a:r>
          </a:p>
        </p:txBody>
      </p:sp>
      <p:sp>
        <p:nvSpPr>
          <p:cNvPr id="43" name="Rounded Rectangle 42">
            <a:hlinkClick r:id="rId2"/>
          </p:cNvPr>
          <p:cNvSpPr/>
          <p:nvPr/>
        </p:nvSpPr>
        <p:spPr>
          <a:xfrm>
            <a:off x="6812280" y="4251960"/>
            <a:ext cx="3657600" cy="594360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打开 Neo4j 知识图谱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09B156-5732-46B6-AC83-813CE76C6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175"/>
            <a:ext cx="1219200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Neo4j 图谱可视化展示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通过节点与关系路径观察相机领域知识结构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89888"/>
            <a:ext cx="292607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可视化观察点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288950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品牌连接多个型号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机身通过兼容关系连接镜头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用途节点连接推荐场景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2607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讲解路径示例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288950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索尼 → Alpha 7 IV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Alpha 7 IV → 全画幅微单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Alpha 7 IV → FE 镜头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349240" y="1947672"/>
            <a:ext cx="1463039" cy="22860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2279" y="1947672"/>
            <a:ext cx="1463040" cy="274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89320" y="1947672"/>
            <a:ext cx="822959" cy="150876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79" y="1947672"/>
            <a:ext cx="640081" cy="155448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79" y="1947672"/>
            <a:ext cx="2103121" cy="141732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89320" y="2221992"/>
            <a:ext cx="2285999" cy="123444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52360" y="3364992"/>
            <a:ext cx="1463040" cy="137160"/>
          </a:xfrm>
          <a:prstGeom prst="line">
            <a:avLst/>
          </a:prstGeom>
          <a:ln w="2032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29200" y="2011680"/>
            <a:ext cx="685800" cy="685800"/>
          </a:xfrm>
          <a:prstGeom prst="ellipse">
            <a:avLst/>
          </a:prstGeom>
          <a:solidFill>
            <a:srgbClr val="2374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2402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品牌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rgbClr val="1D9E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8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型号</a:t>
            </a:r>
          </a:p>
        </p:txBody>
      </p:sp>
      <p:sp>
        <p:nvSpPr>
          <p:cNvPr id="24" name="Oval 23"/>
          <p:cNvSpPr/>
          <p:nvPr/>
        </p:nvSpPr>
        <p:spPr>
          <a:xfrm>
            <a:off x="7955279" y="2057400"/>
            <a:ext cx="685800" cy="685800"/>
          </a:xfrm>
          <a:prstGeom prst="ellipse">
            <a:avLst/>
          </a:prstGeom>
          <a:solidFill>
            <a:srgbClr val="42996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22860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镜头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3291840"/>
            <a:ext cx="685800" cy="685800"/>
          </a:xfrm>
          <a:prstGeom prst="ellipse">
            <a:avLst/>
          </a:prstGeom>
          <a:solidFill>
            <a:srgbClr val="E099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0" y="352044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3337560"/>
            <a:ext cx="685800" cy="685800"/>
          </a:xfrm>
          <a:prstGeom prst="ellipse">
            <a:avLst/>
          </a:prstGeom>
          <a:solidFill>
            <a:srgbClr val="D65A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356616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30" name="Oval 29"/>
          <p:cNvSpPr/>
          <p:nvPr/>
        </p:nvSpPr>
        <p:spPr>
          <a:xfrm>
            <a:off x="8595360" y="3200400"/>
            <a:ext cx="685800" cy="685800"/>
          </a:xfrm>
          <a:prstGeom prst="ellipse">
            <a:avLst/>
          </a:prstGeom>
          <a:solidFill>
            <a:srgbClr val="715BB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3429000"/>
            <a:ext cx="685800" cy="16459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4617720"/>
            <a:ext cx="5943600" cy="822960"/>
          </a:xfrm>
          <a:prstGeom prst="roundRect">
            <a:avLst/>
          </a:prstGeom>
          <a:solidFill>
            <a:srgbClr val="19232E"/>
          </a:solidFill>
          <a:ln>
            <a:solidFill>
              <a:srgbClr val="44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0912" y="4764024"/>
            <a:ext cx="56144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DAE8F0"/>
                </a:solidFill>
                <a:latin typeface="Consolas"/>
              </a:rPr>
              <a:t>MATCH (</a:t>
            </a:r>
            <a:r>
              <a:rPr sz="1200" dirty="0" err="1">
                <a:solidFill>
                  <a:srgbClr val="DAE8F0"/>
                </a:solidFill>
                <a:latin typeface="Consolas"/>
              </a:rPr>
              <a:t>m:CameraModel</a:t>
            </a:r>
            <a:r>
              <a:rPr sz="1200" dirty="0">
                <a:solidFill>
                  <a:srgbClr val="DAE8F0"/>
                </a:solidFill>
                <a:latin typeface="Consolas"/>
              </a:rPr>
              <a:t>)-[:COMPATIBLE_WITH]-&gt;(</a:t>
            </a:r>
            <a:r>
              <a:rPr sz="1200" dirty="0" err="1">
                <a:solidFill>
                  <a:srgbClr val="DAE8F0"/>
                </a:solidFill>
                <a:latin typeface="Consolas"/>
              </a:rPr>
              <a:t>l:Lens</a:t>
            </a:r>
            <a:r>
              <a:rPr sz="1200" dirty="0">
                <a:solidFill>
                  <a:srgbClr val="DAE8F0"/>
                </a:solidFill>
                <a:latin typeface="Consolas"/>
              </a:rPr>
              <a:t>)</a:t>
            </a:r>
            <a:br>
              <a:rPr dirty="0"/>
            </a:br>
            <a:r>
              <a:rPr sz="1200" dirty="0">
                <a:solidFill>
                  <a:srgbClr val="DAE8F0"/>
                </a:solidFill>
                <a:latin typeface="Consolas"/>
              </a:rPr>
              <a:t>RETURN </a:t>
            </a:r>
            <a:r>
              <a:rPr sz="1200" dirty="0" err="1">
                <a:solidFill>
                  <a:srgbClr val="DAE8F0"/>
                </a:solidFill>
                <a:latin typeface="Consolas"/>
              </a:rPr>
              <a:t>m,l</a:t>
            </a:r>
            <a:r>
              <a:rPr sz="1200" dirty="0">
                <a:solidFill>
                  <a:srgbClr val="DAE8F0"/>
                </a:solidFill>
                <a:latin typeface="Consolas"/>
              </a:rPr>
              <a:t> LIMIT 50;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功能查询展示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从图谱关系出发，支撑相机导购中的多类问题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325880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1. 最新机型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73936"/>
            <a:ext cx="234086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按 releaseYear 倒序查询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回答“最新/新款相机”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170432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325880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2. 新手推荐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73936"/>
            <a:ext cx="234086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用途=入门学习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结合预算和热销偏好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170432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1325880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3. 视频创作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773936"/>
            <a:ext cx="234086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用途=视频创作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筛选品牌、预算和推荐分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54896" y="1170432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56064" y="1325880"/>
            <a:ext cx="178307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4. 镜头推荐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56064" y="1773936"/>
            <a:ext cx="174650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按卡口/用途/价格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推荐人像或风光镜头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50592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2606040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5. 兼容机身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054096"/>
            <a:ext cx="234086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已有某品牌镜头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查询可兼容机身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2450592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2606040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6. 型号解释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054096"/>
            <a:ext cx="234086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查询品牌、类别、理由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展示兼容镜头路径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2450592"/>
            <a:ext cx="510235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2552" y="2606040"/>
            <a:ext cx="4736592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答辩展示逻辑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054096"/>
            <a:ext cx="4700016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先展示 Schema，再用功能查询证明图谱可服务购买决策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查询结果不只是表格，还能解释“为什么推荐”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822191"/>
            <a:ext cx="6446520" cy="1783080"/>
          </a:xfrm>
          <a:prstGeom prst="roundRect">
            <a:avLst/>
          </a:prstGeom>
          <a:solidFill>
            <a:srgbClr val="19232E"/>
          </a:solidFill>
          <a:ln>
            <a:solidFill>
              <a:srgbClr val="44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3968496"/>
            <a:ext cx="611733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DAE8F0"/>
                </a:solidFill>
                <a:latin typeface="Consolas"/>
              </a:rPr>
              <a:t>// 示例：已有索尼镜头时推荐可兼容机身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MATCH (m:CameraModel)-[:COMPATIBLE_WITH]-&gt;(l:Lens)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      -[:PRODUCED_BY]-&gt;(:Brand {name:'索尼'})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RETURN m.name AS 推荐机身, m.price AS 价格,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       m.releaseYear AS 发布年份,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       count(DISTINCT l) AS 可兼容镜头数,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       collect(DISTINCT l.name)[0..5] AS 可用镜头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ORDER BY 可兼容镜头数 DESC, 发布年份 DESC, 价格 ASC</a:t>
            </a:r>
            <a:br/>
            <a:r>
              <a:rPr sz="1000">
                <a:solidFill>
                  <a:srgbClr val="DAE8F0"/>
                </a:solidFill>
                <a:latin typeface="Consolas"/>
              </a:rPr>
              <a:t>LIMIT 8;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3822191"/>
            <a:ext cx="3977639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53528" y="3977639"/>
            <a:ext cx="361187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现场可演示问题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4425696"/>
            <a:ext cx="3575303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最新的相机推荐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新手预算5000以内，推荐热销相机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索尼E卡口人像镜头推荐，预算5000以内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已有索尼镜头，应该买什么机身？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33872"/>
            <a:ext cx="10515600" cy="29260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500" b="1">
                <a:solidFill>
                  <a:srgbClr val="162D40"/>
                </a:solidFill>
                <a:latin typeface="Microsoft YaHei"/>
              </a:rPr>
              <a:t>展示重点：预算筛选、用途匹配、镜头生态、兼容关系、型号解释、最新排序。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对话导购系统展示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自然语言问题自动映射为 Cypher 查询，并返回推荐结果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12 / 13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822960" y="1234440"/>
            <a:ext cx="3154680" cy="594360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打开相机导购对话系统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306323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现场示例问题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60904"/>
            <a:ext cx="302666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新手预算5000以内，推荐热销相机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索尼E卡口人像镜头推荐，预算5000以内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已有索尼镜头，应该买什么机身？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7" y="1335024"/>
            <a:ext cx="1691640" cy="658368"/>
          </a:xfrm>
          <a:prstGeom prst="round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用户问题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10527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20840" y="1325880"/>
            <a:ext cx="1691640" cy="658368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语义解析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0767" y="1655064"/>
            <a:ext cx="182881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325880"/>
            <a:ext cx="1691640" cy="658368"/>
          </a:xfrm>
          <a:prstGeom prst="roundRect">
            <a:avLst/>
          </a:prstGeom>
          <a:solidFill>
            <a:srgbClr val="4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Cypher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51007" y="1655064"/>
            <a:ext cx="182881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61320" y="1325880"/>
            <a:ext cx="1691640" cy="658368"/>
          </a:xfrm>
          <a:prstGeom prst="roundRect">
            <a:avLst/>
          </a:prstGeom>
          <a:solidFill>
            <a:srgbClr val="E0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Neo4j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271248" y="1655064"/>
            <a:ext cx="182880" cy="0"/>
          </a:xfrm>
          <a:prstGeom prst="line">
            <a:avLst/>
          </a:prstGeom>
          <a:ln w="25400">
            <a:solidFill>
              <a:srgbClr val="D6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481560" y="1325880"/>
            <a:ext cx="1691640" cy="658368"/>
          </a:xfrm>
          <a:prstGeom prst="roundRect">
            <a:avLst/>
          </a:prstGeom>
          <a:solidFill>
            <a:srgbClr val="D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推荐结果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242316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2578608"/>
            <a:ext cx="23774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识别字段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3026664"/>
            <a:ext cx="234086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预算、用途、品牌、类别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卡口、已有镜头、具体型号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热销/性价比偏好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423160"/>
            <a:ext cx="2926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2578608"/>
            <a:ext cx="256031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输出内容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026664"/>
            <a:ext cx="252374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推荐型号/镜头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价格、评分、参数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推荐理由与生成的 Cypher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074920"/>
            <a:ext cx="5897880" cy="34747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300" b="0">
                <a:solidFill>
                  <a:srgbClr val="62707E"/>
                </a:solidFill>
                <a:latin typeface="Microsoft YaHei"/>
              </a:rPr>
              <a:t>无法理解的问题会提示：“暂时没能理解您的意思，请重新输入”。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4B7BB8-5199-4E17-A43F-F4D79EA3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13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92608"/>
            <a:ext cx="1143000" cy="310896"/>
          </a:xfrm>
          <a:prstGeom prst="roundRect">
            <a:avLst/>
          </a:prstGeom>
          <a:solidFill>
            <a:srgbClr val="1D9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228600"/>
            <a:ext cx="9052560" cy="45720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2400" b="1">
                <a:solidFill>
                  <a:srgbClr val="162D40"/>
                </a:solidFill>
                <a:latin typeface="Microsoft YaHei"/>
              </a:rPr>
              <a:t>总结与展望：知识图谱 + 大模型导购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58368"/>
            <a:ext cx="9875520" cy="256032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100" b="0">
                <a:solidFill>
                  <a:srgbClr val="62707E"/>
                </a:solidFill>
                <a:latin typeface="Microsoft YaHei"/>
              </a:rPr>
              <a:t>从结构化知识组织，进一步走向更自然、更智能的消费决策助手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18288"/>
          </a:xfrm>
          <a:prstGeom prst="rect">
            <a:avLst/>
          </a:prstGeom>
          <a:solidFill>
            <a:srgbClr val="D6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0" y="6510528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r"/>
            <a:r>
              <a:rPr sz="900" b="0">
                <a:solidFill>
                  <a:srgbClr val="62707E"/>
                </a:solidFill>
                <a:latin typeface="Microsoft YaHei"/>
              </a:rP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98448"/>
            <a:ext cx="30632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已完成成果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46504"/>
            <a:ext cx="302666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完成 30 篇以上文献综述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构建 307 个节点、1162 条关系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实现 Neo4j 图谱展示、Cypher 查询和 Flask 导购系统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298448"/>
            <a:ext cx="30632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当前系统价值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46504"/>
            <a:ext cx="302666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把相机参数、镜头生态、价格和评测结构化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支持预算、用途、卡口、已有镜头等导购查询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推荐结果可追溯到图谱关系和理由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298448"/>
            <a:ext cx="306323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现有不足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746504"/>
            <a:ext cx="3026664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规则式语义解析覆盖有限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价格和销量更新仍依赖人工或定期采集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复杂偏好和多轮追问能力还不够强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75888"/>
            <a:ext cx="30632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大模型改进 1：语义理解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23944"/>
            <a:ext cx="30266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用大模型识别隐含需求，例如“拍娃”“旅游轻便”“预算别太高”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将自然语言稳定转换为 Cypher 或结构化查询参数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675888"/>
            <a:ext cx="306324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大模型改进 2：多轮导购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123944"/>
            <a:ext cx="30266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根据用户追问持续更新画像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支持“再便宜点”“更轻一点”“换佳能”这类上下文指令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520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3675888"/>
            <a:ext cx="3063239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l"/>
            <a:r>
              <a:rPr sz="1500" b="1">
                <a:solidFill>
                  <a:srgbClr val="162D40"/>
                </a:solidFill>
                <a:latin typeface="Microsoft YaHei"/>
              </a:rPr>
              <a:t>大模型改进 3：解释生成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123944"/>
            <a:ext cx="302666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结合图谱路径生成更自然的推荐理由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B343E"/>
                </a:solidFill>
                <a:latin typeface="Microsoft YaHei"/>
              </a:rPr>
              <a:t>• 把参数、评测和价格转化为用户能理解的购买建议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10515600" cy="310896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 algn="ctr"/>
            <a:r>
              <a:rPr sz="1600" b="1">
                <a:solidFill>
                  <a:srgbClr val="162D40"/>
                </a:solidFill>
                <a:latin typeface="Microsoft YaHei"/>
              </a:rPr>
              <a:t>未来方向：以知识图谱保证事实可靠，以大模型提升交互体验和推荐解释能力。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1119</Words>
  <Application>Microsoft Office PowerPoint</Application>
  <PresentationFormat>宽屏</PresentationFormat>
  <Paragraphs>298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1244913806@qq.com</cp:lastModifiedBy>
  <cp:revision>5</cp:revision>
  <dcterms:created xsi:type="dcterms:W3CDTF">2013-01-27T09:14:16Z</dcterms:created>
  <dcterms:modified xsi:type="dcterms:W3CDTF">2026-06-06T11:52:39Z</dcterms:modified>
  <cp:category/>
</cp:coreProperties>
</file>